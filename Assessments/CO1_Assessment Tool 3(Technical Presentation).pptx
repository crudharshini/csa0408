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46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66960" y="1417320"/>
            <a:ext cx="1234440" cy="3024378"/>
          </a:xfrm>
          <a:prstGeom prst="round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63225" y="1627174"/>
            <a:ext cx="641908" cy="641908"/>
          </a:xfrm>
          <a:prstGeom prst="ellipse">
            <a:avLst/>
          </a:prstGeom>
          <a:solidFill>
            <a:srgbClr val="CD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63225" y="2565349"/>
            <a:ext cx="641908" cy="641908"/>
          </a:xfrm>
          <a:prstGeom prst="ellipse">
            <a:avLst/>
          </a:prstGeom>
          <a:solidFill>
            <a:srgbClr val="EB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263225" y="3503523"/>
            <a:ext cx="641908" cy="641908"/>
          </a:xfrm>
          <a:prstGeom prst="ellipse">
            <a:avLst/>
          </a:prstGeom>
          <a:solidFill>
            <a:srgbClr val="3C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85039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233C"/>
                </a:solidFill>
              </a:defRPr>
            </a:pPr>
            <a:r>
              <a:rPr dirty="0"/>
              <a:t>Real-Time Operating System</a:t>
            </a:r>
            <a:br>
              <a:rPr dirty="0"/>
            </a:br>
            <a:r>
              <a:rPr dirty="0"/>
              <a:t>for Traffic Signal Control</a:t>
            </a:r>
          </a:p>
          <a:p>
            <a:pPr>
              <a:defRPr sz="2000">
                <a:solidFill>
                  <a:srgbClr val="2B6096"/>
                </a:solidFill>
              </a:defRPr>
            </a:pPr>
            <a:r>
              <a:rPr dirty="0"/>
              <a:t>Technical Presentation</a:t>
            </a:r>
          </a:p>
          <a:p>
            <a:pPr>
              <a:defRPr sz="1600">
                <a:solidFill>
                  <a:srgbClr val="697078"/>
                </a:solidFill>
              </a:defRPr>
            </a:pPr>
            <a:r>
              <a:rPr dirty="0"/>
              <a:t>OS Type • Structure • System Calls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323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4400" y="5897880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5897880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5897880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5897880"/>
            <a:ext cx="128016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7BC09-DB3A-D7B0-BC91-9A9DAC724C1B}"/>
              </a:ext>
            </a:extLst>
          </p:cNvPr>
          <p:cNvSpPr txBox="1"/>
          <p:nvPr/>
        </p:nvSpPr>
        <p:spPr>
          <a:xfrm>
            <a:off x="731520" y="4067564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Presented By:</a:t>
            </a:r>
          </a:p>
          <a:p>
            <a:r>
              <a:rPr lang="en-IN" b="1" dirty="0"/>
              <a:t>Dharshini(192521408)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E8B616-8EF9-32C3-F7C7-0A8AB60E0965}"/>
              </a:ext>
            </a:extLst>
          </p:cNvPr>
          <p:cNvSpPr txBox="1"/>
          <p:nvPr/>
        </p:nvSpPr>
        <p:spPr>
          <a:xfrm>
            <a:off x="731520" y="3211135"/>
            <a:ext cx="5105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CSA0408-Operating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1. Type of OS Used and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</a:defRPr>
            </a:pPr>
            <a:r>
              <a:t>A traffic signal controller is a time-critical embedded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00400" cy="1051560"/>
          </a:xfrm>
          <a:prstGeom prst="roundRect">
            <a:avLst/>
          </a:prstGeom>
          <a:solidFill>
            <a:srgbClr val="E1EF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REAL-TIME OPERATING SYSTEM (RTOS)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17320"/>
            <a:ext cx="3200400" cy="1051560"/>
          </a:xfrm>
          <a:prstGeom prst="roundRect">
            <a:avLst/>
          </a:prstGeom>
          <a:solidFill>
            <a:srgbClr val="EEFAF1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Example: FreeRTOS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234440"/>
            <a:ext cx="1051560" cy="2576322"/>
          </a:xfrm>
          <a:prstGeom prst="roundRect">
            <a:avLst/>
          </a:prstGeom>
          <a:solidFill>
            <a:srgbClr val="1E1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127894" y="1413205"/>
            <a:ext cx="546811" cy="546811"/>
          </a:xfrm>
          <a:prstGeom prst="ellipse">
            <a:avLst/>
          </a:prstGeom>
          <a:solidFill>
            <a:srgbClr val="CD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127894" y="2212390"/>
            <a:ext cx="546811" cy="546811"/>
          </a:xfrm>
          <a:prstGeom prst="ellipse">
            <a:avLst/>
          </a:prstGeom>
          <a:solidFill>
            <a:srgbClr val="EB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127894" y="3011576"/>
            <a:ext cx="546811" cy="546811"/>
          </a:xfrm>
          <a:prstGeom prst="ellipse">
            <a:avLst/>
          </a:prstGeom>
          <a:solidFill>
            <a:srgbClr val="3C9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8138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Signal changes must happen at predictable times.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The system must respond quickly to sensor events.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Multiple tasks can run: signal control, sensor reading and monitoring.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  <a:latin typeface="Aptos"/>
              </a:defRPr>
            </a:pPr>
            <a:r>
              <a:t>• Task priorities allow urgent events to receive CPU time quickly.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79" y="4319397"/>
            <a:ext cx="2148840" cy="822960"/>
          </a:xfrm>
          <a:prstGeom prst="roundRect">
            <a:avLst/>
          </a:prstGeom>
          <a:solidFill>
            <a:srgbClr val="FFF7E1"/>
          </a:solidFill>
          <a:ln>
            <a:solidFill>
              <a:srgbClr val="EBA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2D"/>
                </a:solidFill>
                <a:latin typeface="Aptos"/>
              </a:defRPr>
            </a:pPr>
            <a:r>
              <a:t>Predictable</a:t>
            </a:r>
            <a:br/>
            <a:r>
              <a:t>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2. OS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</a:defRPr>
            </a:pPr>
            <a:r>
              <a:t>The RTOS sits between the traffic-control application and the hardware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777240"/>
          </a:xfrm>
          <a:prstGeom prst="roundRect">
            <a:avLst/>
          </a:prstGeom>
          <a:solidFill>
            <a:srgbClr val="EBF1FA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TRAFFIC SIGNAL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20116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Signal Control Task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103120"/>
            <a:ext cx="0" cy="32004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2468880"/>
            <a:ext cx="20116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Sensor Task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2103120"/>
            <a:ext cx="0" cy="32004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468880"/>
            <a:ext cx="20116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Monitoring Task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2103120"/>
            <a:ext cx="0" cy="32004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81160" y="2468880"/>
            <a:ext cx="2011680" cy="731520"/>
          </a:xfrm>
          <a:prstGeom prst="roundRect">
            <a:avLst/>
          </a:prstGeom>
          <a:solidFill>
            <a:srgbClr val="F8F9FA"/>
          </a:solidFill>
          <a:ln>
            <a:solidFill>
              <a:srgbClr val="EBA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Timer Task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87000" y="2103120"/>
            <a:ext cx="0" cy="32004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794760"/>
            <a:ext cx="10698480" cy="822960"/>
          </a:xfrm>
          <a:prstGeom prst="roundRect">
            <a:avLst/>
          </a:prstGeom>
          <a:solidFill>
            <a:srgbClr val="E8F5EB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2D"/>
                </a:solidFill>
                <a:latin typeface="Aptos"/>
              </a:defRPr>
            </a:pPr>
            <a:r>
              <a:t>RTOS 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166360"/>
            <a:ext cx="2880360" cy="685800"/>
          </a:xfrm>
          <a:prstGeom prst="roundRect">
            <a:avLst/>
          </a:prstGeom>
          <a:solidFill>
            <a:srgbClr val="E1EF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5166360"/>
            <a:ext cx="2880360" cy="685800"/>
          </a:xfrm>
          <a:prstGeom prst="roundRect">
            <a:avLst/>
          </a:prstGeom>
          <a:solidFill>
            <a:srgbClr val="E1EF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Task Management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5166360"/>
            <a:ext cx="2880360" cy="685800"/>
          </a:xfrm>
          <a:prstGeom prst="roundRect">
            <a:avLst/>
          </a:prstGeom>
          <a:solidFill>
            <a:srgbClr val="E1EF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Queues / Semaphores / Timers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4663440"/>
            <a:ext cx="0" cy="411480"/>
          </a:xfrm>
          <a:prstGeom prst="line">
            <a:avLst/>
          </a:prstGeom>
          <a:ln w="31750">
            <a:solidFill>
              <a:srgbClr val="2B6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3. Main OS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</a:defRPr>
            </a:pPr>
            <a:r>
              <a:t>What each RTOS component does in the traffic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3990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Chooses which task runs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3990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Separate activities such as sensing and signal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EBA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Queues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9992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Pass data/events between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Semaphores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9992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Synchronize access to shared resources.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Timers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5994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Generate time-based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1965960" cy="1051560"/>
          </a:xfrm>
          <a:prstGeom prst="roundRect">
            <a:avLst/>
          </a:prstGeom>
          <a:solidFill>
            <a:srgbClr val="F8F9FA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82D"/>
                </a:solidFill>
                <a:latin typeface="Aptos"/>
              </a:defRPr>
            </a:pPr>
            <a:r>
              <a:t>Interrupt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59943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82D"/>
                </a:solidFill>
              </a:defRPr>
            </a:pPr>
            <a:r>
              <a:t>Respond quickly to hardware 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4. System Calls for Process / Task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</a:defRPr>
            </a:pPr>
            <a:r>
              <a:t>FreeRTOS uses kernel APIs to create and control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xTaskCreate()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234440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Create a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20824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vTaskStartScheduler()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020824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Start the RTOS scheduler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07208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taskYIELD()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2807208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Give another ready task a chance to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93591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vTaskSuspend()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3593591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Temporarily stop a task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79976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vTaskResume()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4379976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Allow a suspended task to run again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3749039" cy="621792"/>
          </a:xfrm>
          <a:prstGeom prst="roundRect">
            <a:avLst/>
          </a:prstGeom>
          <a:solidFill>
            <a:srgbClr val="EEF6FF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82D"/>
                </a:solidFill>
                <a:latin typeface="Aptos"/>
              </a:defRPr>
            </a:pPr>
            <a:r>
              <a:t>xQueueSend() / xQueueReceive()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5166360"/>
            <a:ext cx="6629400" cy="621792"/>
          </a:xfrm>
          <a:prstGeom prst="round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82D"/>
                </a:solidFill>
                <a:latin typeface="Aptos"/>
              </a:defRPr>
            </a:pPr>
            <a:r>
              <a:t>Communicate events or data between tasks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5. System Calls / APIs for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5039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97078"/>
                </a:solidFill>
              </a:defRPr>
            </a:pPr>
            <a:r>
              <a:t>Timing APIs control how long signal phases and periodic tasks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743200" cy="822960"/>
          </a:xfrm>
          <a:prstGeom prst="roundRect">
            <a:avLst/>
          </a:prstGeom>
          <a:solidFill>
            <a:srgbClr val="EEFAF1"/>
          </a:solidFill>
          <a:ln>
            <a:solidFill>
              <a:srgbClr val="3C9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82D"/>
                </a:solidFill>
                <a:latin typeface="Aptos"/>
              </a:defRPr>
            </a:pPr>
            <a:r>
              <a:rPr dirty="0"/>
              <a:t>GREEN</a:t>
            </a:r>
            <a:br>
              <a:rPr dirty="0"/>
            </a:br>
            <a:r>
              <a:rPr dirty="0"/>
              <a:t>3</a:t>
            </a:r>
            <a:r>
              <a:rPr lang="en-IN" dirty="0"/>
              <a:t>0</a:t>
            </a:r>
            <a:r>
              <a:rPr dirty="0"/>
              <a:t> seconds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1737360"/>
            <a:ext cx="502920" cy="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069080" y="1325880"/>
            <a:ext cx="2743200" cy="822960"/>
          </a:xfrm>
          <a:prstGeom prst="roundRect">
            <a:avLst/>
          </a:prstGeom>
          <a:solidFill>
            <a:srgbClr val="FFF7E1"/>
          </a:solidFill>
          <a:ln>
            <a:solidFill>
              <a:srgbClr val="EBA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82D"/>
                </a:solidFill>
                <a:latin typeface="Aptos"/>
              </a:defRPr>
            </a:pPr>
            <a:r>
              <a:rPr dirty="0"/>
              <a:t>AMBER</a:t>
            </a:r>
            <a:br>
              <a:rPr dirty="0"/>
            </a:br>
            <a:r>
              <a:rPr dirty="0"/>
              <a:t>15 seconds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0" y="1737360"/>
            <a:ext cx="502920" cy="0"/>
          </a:xfrm>
          <a:prstGeom prst="line">
            <a:avLst/>
          </a:prstGeom>
          <a:ln w="3175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1325880"/>
            <a:ext cx="2743200" cy="822960"/>
          </a:xfrm>
          <a:prstGeom prst="roundRect">
            <a:avLst/>
          </a:prstGeom>
          <a:solidFill>
            <a:srgbClr val="FFEFEF"/>
          </a:solidFill>
          <a:ln>
            <a:solidFill>
              <a:srgbClr val="CD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82D"/>
                </a:solidFill>
                <a:latin typeface="Aptos"/>
              </a:defRPr>
            </a:pPr>
            <a:r>
              <a:rPr dirty="0"/>
              <a:t>RED</a:t>
            </a:r>
            <a:br>
              <a:rPr dirty="0"/>
            </a:br>
            <a:r>
              <a:rPr dirty="0"/>
              <a:t>3</a:t>
            </a:r>
            <a:r>
              <a:rPr lang="en-IN" dirty="0"/>
              <a:t>0</a:t>
            </a:r>
            <a:r>
              <a:rPr dirty="0"/>
              <a:t>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3383280" cy="914400"/>
          </a:xfrm>
          <a:prstGeom prst="roundRect">
            <a:avLst/>
          </a:prstGeom>
          <a:solidFill>
            <a:srgbClr val="E1EFFA"/>
          </a:solidFill>
          <a:ln>
            <a:solidFill>
              <a:srgbClr val="2B6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vTaskDelay()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9748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Blocks the current task for a specified time.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The CPU can run another ready task during the delay.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3383280" cy="914400"/>
          </a:xfrm>
          <a:prstGeom prst="roundRect">
            <a:avLst/>
          </a:prstGeom>
          <a:solidFill>
            <a:srgbClr val="FFF7E1"/>
          </a:solidFill>
          <a:ln>
            <a:solidFill>
              <a:srgbClr val="EBA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2D"/>
                </a:solidFill>
                <a:latin typeface="Aptos"/>
              </a:defRPr>
            </a:pPr>
            <a:r>
              <a:t>Software Timers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297680"/>
            <a:ext cx="6492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Useful for periodic actions.</a:t>
            </a:r>
          </a:p>
          <a:p>
            <a:pPr>
              <a:spcAft>
                <a:spcPts val="1000"/>
              </a:spcAft>
              <a:defRPr sz="1500">
                <a:solidFill>
                  <a:srgbClr val="23282D"/>
                </a:solidFill>
                <a:latin typeface="Aptos"/>
              </a:defRPr>
            </a:pPr>
            <a:r>
              <a:t>• RTOS ticks provide the basic time reference.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3D1C8-AA4A-94D2-7E0E-89F8819AD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04" r="9826"/>
          <a:stretch>
            <a:fillRect/>
          </a:stretch>
        </p:blipFill>
        <p:spPr>
          <a:xfrm>
            <a:off x="1927122" y="639096"/>
            <a:ext cx="7659329" cy="578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1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340</Words>
  <Application>Microsoft Office PowerPoint</Application>
  <PresentationFormat>Widescreen</PresentationFormat>
  <Paragraphs>71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dhars</dc:creator>
  <cp:keywords/>
  <dc:description>generated using python-pptx</dc:description>
  <cp:lastModifiedBy>dharshini1736@gmail.com</cp:lastModifiedBy>
  <cp:revision>3</cp:revision>
  <dcterms:created xsi:type="dcterms:W3CDTF">2013-01-27T09:14:16Z</dcterms:created>
  <dcterms:modified xsi:type="dcterms:W3CDTF">2026-10-03T09:10:16Z</dcterms:modified>
  <cp:category/>
</cp:coreProperties>
</file>